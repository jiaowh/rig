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tableStyles" Target="tableStyles.xml"/><Relationship Id="rId11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9730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0973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188951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801667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631208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01480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09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607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Sourcing caveats — state these if challenged on any figure:</a:t>
            </a:r>
            <a:br>
              <a:rPr lang="en-US"/>
            </a:br>
            <a:r>
              <a:rPr lang="en-US"/>
              <a:t>• IVWorks DOMM: vendor marketing only. No published yield, unattended-hours or dispersion numbers. Cite as existence proof of the commercial route, never as a numeric benchmark. DOMM is not sold externally.</a:t>
            </a:r>
            <a:br>
              <a:rPr lang="en-US"/>
            </a:br>
            <a:r>
              <a:rPr lang="en-US"/>
              <a:t>• Empa (Digital Discovery 2026): the paper's own scientific conclusion is negative — positive pulsing is broadly unfavourable for deposition rate. We cite the autonomous methodology and the real dataset, not any claim that autonomy improves rate.</a:t>
            </a:r>
            <a:br>
              <a:rPr lang="en-US"/>
            </a:br>
            <a:r>
              <a:rPr lang="en-US"/>
              <a:t>• Sputter APC Cpk &lt;1.4 → &gt;2.0 is a vendor case study in retrospective simulation, not an audited result.</a:t>
            </a:r>
            <a:br>
              <a:rPr lang="en-US"/>
            </a:br>
            <a:r>
              <a:rPr lang="en-US"/>
              <a:t>• The commonly cited estimate that APC is worth &gt;US$300M/yr to a 20K wafer/month logic fab is a consultancy figure, not independently audited. Quote it only with that qualification.</a:t>
            </a:r>
            <a:br>
              <a:rPr lang="en-US"/>
            </a:br>
            <a:r>
              <a:rPr lang="en-US"/>
              <a:t>• RHAAPsody is a perception benchmark. It does not perform active control; our pipeline extends its methodology.</a:t>
            </a:r>
            <a:endParaRPr lang="en-US"/>
          </a:p>
        </p:txBody>
      </p:sp>
      <p:sp>
        <p:nvSpPr>
          <p:cNvPr id="1692591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32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549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Three manufacturing problems, the strict definition of autonomy used in this proposal, and the data flywheel that compounds across runs.</a:t>
            </a:r>
            <a:endParaRPr lang="en-US"/>
          </a:p>
        </p:txBody>
      </p:sp>
      <p:sp>
        <p:nvSpPr>
          <p:cNvPr id="173867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629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656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Target loop: the data model proposes a recipe, the equipment runs it under in-situ RHEED sensing, measurement feedback returns to the model; the local LLM reasons over the run and issues control.</a:t>
            </a:r>
            <a:endParaRPr lang="en-US"/>
          </a:p>
        </p:txBody>
      </p:sp>
      <p:sp>
        <p:nvSpPr>
          <p:cNvPr id="212754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332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403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Current status and next step for the three in-house assets; none has yet been validated on this project's own tool.</a:t>
            </a:r>
            <a:endParaRPr lang="en-US"/>
          </a:p>
        </p:txBody>
      </p:sp>
      <p:sp>
        <p:nvSpPr>
          <p:cNvPr id="1939080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264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3829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RDI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i.org/10.1116/6.0004493" TargetMode="External"/><Relationship Id="rId4" Type="http://schemas.openxmlformats.org/officeDocument/2006/relationships/hyperlink" Target="https://github.com/pnnl/RHAAPSODY" TargetMode="External"/><Relationship Id="rId5" Type="http://schemas.openxmlformats.org/officeDocument/2006/relationships/hyperlink" Target="https://www.nature.com/articles/s41467-024-47087-w" TargetMode="External"/><Relationship Id="rId6" Type="http://schemas.openxmlformats.org/officeDocument/2006/relationships/hyperlink" Target="https://pmc.ncbi.nlm.nih.gov/articles/PMC12279205/" TargetMode="External"/><Relationship Id="rId7" Type="http://schemas.openxmlformats.org/officeDocument/2006/relationships/hyperlink" Target="https://www.ivwkr.com/news-post/mbe-equipment-enhanced-by-ai-agents-a-new-era-of-automation-in-epitaxial-wafer-production/" TargetMode="External"/><Relationship Id="rId8" Type="http://schemas.openxmlformats.org/officeDocument/2006/relationships/hyperlink" Target="https://doi.org/10.1039/D6DD00063K" TargetMode="External"/><Relationship Id="rId9" Type="http://schemas.openxmlformats.org/officeDocument/2006/relationships/hyperlink" Target="https://zenodo.org/records/18495402" TargetMode="External"/><Relationship Id="rId10" Type="http://schemas.openxmlformats.org/officeDocument/2006/relationships/hyperlink" Target="https://www.nature.com/articles/s41524-025-01805-0" TargetMode="External"/><Relationship Id="rId11" Type="http://schemas.openxmlformats.org/officeDocument/2006/relationships/hyperlink" Target="https://community.spotfire.com/articles/spotfire/sputter-deposition-advanced-process-control-r3552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119762" name="Text 0"/>
          <p:cNvSpPr/>
          <p:nvPr/>
        </p:nvSpPr>
        <p:spPr bwMode="auto">
          <a:xfrm>
            <a:off x="548640" y="457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60">
                <a:solidFill>
                  <a:srgbClr val="2B6CB0"/>
                </a:solidFill>
                <a:latin typeface="Arial"/>
                <a:ea typeface="Arial"/>
                <a:cs typeface="Arial"/>
              </a:rPr>
              <a:t>AI autonomous operation proposal · Landscape</a:t>
            </a:r>
            <a:endParaRPr lang="en-US" sz="1100"/>
          </a:p>
        </p:txBody>
      </p:sp>
      <p:sp>
        <p:nvSpPr>
          <p:cNvPr id="269043485" name="Text 1"/>
          <p:cNvSpPr/>
          <p:nvPr/>
        </p:nvSpPr>
        <p:spPr bwMode="auto">
          <a:xfrm>
            <a:off x="548640" y="713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Landscape: precedent</a:t>
            </a:r>
            <a:r>
              <a:rPr lang="en-SG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 research</a:t>
            </a:r>
            <a:endParaRPr lang="en-US" sz="3200"/>
          </a:p>
        </p:txBody>
      </p:sp>
      <p:sp>
        <p:nvSpPr>
          <p:cNvPr id="731119763" name="TextBox 731119762"/>
          <p:cNvSpPr txBox="1"/>
          <p:nvPr/>
        </p:nvSpPr>
        <p:spPr>
          <a:xfrm>
            <a:off x="713232" y="1444752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66707A"/>
                </a:solidFill>
              </a:rPr>
              <a:t>Subsystem</a:t>
            </a:r>
          </a:p>
        </p:txBody>
      </p:sp>
      <p:sp>
        <p:nvSpPr>
          <p:cNvPr id="731119764" name="TextBox 731119763"/>
          <p:cNvSpPr txBox="1"/>
          <p:nvPr/>
        </p:nvSpPr>
        <p:spPr>
          <a:xfrm>
            <a:off x="2286000" y="1444752"/>
            <a:ext cx="6812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66707A"/>
                </a:solidFill>
              </a:rPr>
              <a:t>Who they are &amp; what exactly they demonstrated</a:t>
            </a:r>
          </a:p>
        </p:txBody>
      </p:sp>
      <p:sp>
        <p:nvSpPr>
          <p:cNvPr id="731119765" name="TextBox 731119764"/>
          <p:cNvSpPr txBox="1"/>
          <p:nvPr/>
        </p:nvSpPr>
        <p:spPr>
          <a:xfrm>
            <a:off x="9281160" y="1444752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66707A"/>
                </a:solidFill>
              </a:rPr>
              <a:t>Source</a:t>
            </a:r>
          </a:p>
        </p:txBody>
      </p:sp>
      <p:sp>
        <p:nvSpPr>
          <p:cNvPr id="731119766" name="Rectangle 731119765"/>
          <p:cNvSpPr/>
          <p:nvPr/>
        </p:nvSpPr>
        <p:spPr>
          <a:xfrm>
            <a:off x="640080" y="1709928"/>
            <a:ext cx="1097280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119767" name="TextBox 731119766"/>
          <p:cNvSpPr txBox="1"/>
          <p:nvPr/>
        </p:nvSpPr>
        <p:spPr>
          <a:xfrm>
            <a:off x="713232" y="173736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RHEED online analysis</a:t>
            </a:r>
          </a:p>
        </p:txBody>
      </p:sp>
      <p:sp>
        <p:nvSpPr>
          <p:cNvPr id="731119768" name="TextBox 731119767"/>
          <p:cNvSpPr txBox="1"/>
          <p:nvPr/>
        </p:nvSpPr>
        <p:spPr>
          <a:xfrm>
            <a:off x="2286000" y="1737360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PNNL — Pacific Northwest National Laboratory (US DOE; Kaspar et al.). </a:t>
            </a:r>
            <a:r>
              <a:rPr sz="950" b="0" i="0">
                <a:solidFill>
                  <a:srgbClr val="262626"/>
                </a:solidFill>
              </a:rPr>
              <a:t>Built RHAAPsody, an unsupervised, material-agnostic on-the-fly RHEED analyzer: pretrained-CNN features + changepoint detection + graph clustering over the pattern sequence. On live TiO2 MBE growth the full workflow ran in &lt;1 s/frame and flagged transitions ~1 min faster than the human expert. Open source. Perception only — active control is their stated next phase.</a:t>
            </a:r>
          </a:p>
        </p:txBody>
      </p:sp>
      <p:sp>
        <p:nvSpPr>
          <p:cNvPr id="731119769" name="TextBox 731119768"/>
          <p:cNvSpPr txBox="1"/>
          <p:nvPr/>
        </p:nvSpPr>
        <p:spPr>
          <a:xfrm>
            <a:off x="9281160" y="173736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3"/>
              </a:rPr>
              <a:t>JVST A 43, 032702 (2025)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4"/>
              </a:rPr>
              <a:t>GitHub: pnnl/RHAAPSODY</a:t>
            </a:r>
          </a:p>
        </p:txBody>
      </p:sp>
      <p:sp>
        <p:nvSpPr>
          <p:cNvPr id="731119770" name="TextBox 731119769"/>
          <p:cNvSpPr txBox="1"/>
          <p:nvPr/>
        </p:nvSpPr>
        <p:spPr>
          <a:xfrm>
            <a:off x="713232" y="2555748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MBE real-time closed loop</a:t>
            </a:r>
          </a:p>
        </p:txBody>
      </p:sp>
      <p:sp>
        <p:nvSpPr>
          <p:cNvPr id="731119771" name="TextBox 731119770"/>
          <p:cNvSpPr txBox="1"/>
          <p:nvPr/>
        </p:nvSpPr>
        <p:spPr>
          <a:xfrm>
            <a:off x="2286000" y="2555748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Chinese Academy of Sciences (Shen et al.) and follow-up QD-laser work. </a:t>
            </a:r>
            <a:r>
              <a:rPr sz="950" b="0" i="0">
                <a:solidFill>
                  <a:srgbClr val="262626"/>
                </a:solidFill>
              </a:rPr>
              <a:t>Trained a 3D ResNet-50 on RHEED video (not stills) to predict InAs/GaAs quantum-dot density during growth, then closed the loop on the MBE: density dialed anywhere across 3.8×10⁸–1.4×10¹¹ cm⁻² (~2.5 orders of magnitude), fully automated. The 2025 follow-up self-optimized QD-laser growth in-run: PL 3.2× the manually-optimized baseline, FWHM 36.7→28.2 meV, ~0.85 s per decision.</a:t>
            </a:r>
          </a:p>
        </p:txBody>
      </p:sp>
      <p:sp>
        <p:nvSpPr>
          <p:cNvPr id="731119772" name="TextBox 731119771"/>
          <p:cNvSpPr txBox="1"/>
          <p:nvPr/>
        </p:nvSpPr>
        <p:spPr>
          <a:xfrm>
            <a:off x="9281160" y="255574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5"/>
              </a:rPr>
              <a:t>Nat. Commun. 15, 2724 (2024)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6"/>
              </a:rPr>
              <a:t>QD-laser (2025, PMC)</a:t>
            </a:r>
          </a:p>
        </p:txBody>
      </p:sp>
      <p:sp>
        <p:nvSpPr>
          <p:cNvPr id="731119773" name="Rectangle 731119772"/>
          <p:cNvSpPr/>
          <p:nvPr/>
        </p:nvSpPr>
        <p:spPr>
          <a:xfrm>
            <a:off x="640080" y="3346704"/>
            <a:ext cx="1097280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119774" name="TextBox 731119773"/>
          <p:cNvSpPr txBox="1"/>
          <p:nvPr/>
        </p:nvSpPr>
        <p:spPr>
          <a:xfrm>
            <a:off x="713232" y="3374136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MBE unattended operation</a:t>
            </a:r>
          </a:p>
        </p:txBody>
      </p:sp>
      <p:sp>
        <p:nvSpPr>
          <p:cNvPr id="731119775" name="TextBox 731119774"/>
          <p:cNvSpPr txBox="1"/>
          <p:nvPr/>
        </p:nvSpPr>
        <p:spPr>
          <a:xfrm>
            <a:off x="2286000" y="3374136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IVWorks — Korean GaN epiwafer foundry. </a:t>
            </a:r>
            <a:r>
              <a:rPr sz="950" b="0" i="0">
                <a:solidFill>
                  <a:srgbClr val="262626"/>
                </a:solidFill>
              </a:rPr>
              <a:t>DOMM Agent: deep-learning RHEED embedding + an agent driving the MBE control PC; scheduled runs execute load–grow–unload unattended on nights/holidays with real-time pass/fail prediction. Commercial existence proof of the whole route — but no yield / unattended-hours / dispersion figures have been published; cite strictly as a vendor claim.</a:t>
            </a:r>
          </a:p>
        </p:txBody>
      </p:sp>
      <p:sp>
        <p:nvSpPr>
          <p:cNvPr id="731119776" name="TextBox 731119775"/>
          <p:cNvSpPr txBox="1"/>
          <p:nvPr/>
        </p:nvSpPr>
        <p:spPr>
          <a:xfrm>
            <a:off x="9281160" y="3374136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7"/>
              </a:rPr>
              <a:t>IVWorks announcement (Jun 2025)</a:t>
            </a:r>
          </a:p>
        </p:txBody>
      </p:sp>
      <p:sp>
        <p:nvSpPr>
          <p:cNvPr id="731119777" name="TextBox 731119776"/>
          <p:cNvSpPr txBox="1"/>
          <p:nvPr/>
        </p:nvSpPr>
        <p:spPr>
          <a:xfrm>
            <a:off x="713232" y="4192524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Autonomous experimentation (real sputter tool)</a:t>
            </a:r>
          </a:p>
        </p:txBody>
      </p:sp>
      <p:sp>
        <p:nvSpPr>
          <p:cNvPr id="731119778" name="TextBox 731119777"/>
          <p:cNvSpPr txBox="1"/>
          <p:nvPr/>
        </p:nvSpPr>
        <p:spPr>
          <a:xfrm>
            <a:off x="2286000" y="4192524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Empa — Swiss Federal Laboratories for Materials Science and Technology (Wieczorek, Siol et al.). </a:t>
            </a:r>
            <a:r>
              <a:rPr sz="950" b="0" i="0">
                <a:solidFill>
                  <a:srgbClr val="262626"/>
                </a:solidFill>
              </a:rPr>
              <a:t>Ran autonomous Bayesian sampling (BayBE / BoTorch GP) on a real bipolar-HiPIMS magnetron sputter rig: &gt;3,000 process conditions across a 6-D pulse-parameter space collected unattended, SHAP-interpreted, data released CC-BY. Their scientific finding was itself negative (positive pulse mostly reduces deposition rate) — we cite the autonomous method and dataset; our RIG kernel passed its calibration acceptance on exactly this dataset.</a:t>
            </a:r>
          </a:p>
        </p:txBody>
      </p:sp>
      <p:sp>
        <p:nvSpPr>
          <p:cNvPr id="731119779" name="TextBox 731119778"/>
          <p:cNvSpPr txBox="1"/>
          <p:nvPr/>
        </p:nvSpPr>
        <p:spPr>
          <a:xfrm>
            <a:off x="9281160" y="4192524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8"/>
              </a:rPr>
              <a:t>Digital Discovery (2026)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9"/>
              </a:rPr>
              <a:t>Zenodo dataset (CC-BY-4.0)</a:t>
            </a:r>
          </a:p>
        </p:txBody>
      </p:sp>
      <p:sp>
        <p:nvSpPr>
          <p:cNvPr id="731119780" name="Rectangle 731119779"/>
          <p:cNvSpPr/>
          <p:nvPr/>
        </p:nvSpPr>
        <p:spPr>
          <a:xfrm>
            <a:off x="640080" y="4983480"/>
            <a:ext cx="1097280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119781" name="TextBox 731119780"/>
          <p:cNvSpPr txBox="1"/>
          <p:nvPr/>
        </p:nvSpPr>
        <p:spPr>
          <a:xfrm>
            <a:off x="713232" y="5010912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Self-driving PVD to a target spec</a:t>
            </a:r>
          </a:p>
        </p:txBody>
      </p:sp>
      <p:sp>
        <p:nvSpPr>
          <p:cNvPr id="731119782" name="TextBox 731119781"/>
          <p:cNvSpPr txBox="1"/>
          <p:nvPr/>
        </p:nvSpPr>
        <p:spPr>
          <a:xfrm>
            <a:off x="2286000" y="5010912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npj Computational Materials (2025) — self-driving sputter lab. </a:t>
            </a:r>
            <a:r>
              <a:rPr sz="950" b="0" i="0">
                <a:solidFill>
                  <a:srgbClr val="262626"/>
                </a:solidFill>
              </a:rPr>
              <a:t>Fully autonomous silver-film deposition: sputter hardware + in-situ optical spectroscopy + Bayesian ML with no human in the loop, aborting unpromising runs early. Hit the target optical spec in 2.3 attempts on average (vs 3.6 for the ablated baseline), 98 s per measurement cycle, &gt;20,000 data points over 38 samples.</a:t>
            </a:r>
          </a:p>
        </p:txBody>
      </p:sp>
      <p:sp>
        <p:nvSpPr>
          <p:cNvPr id="731119783" name="TextBox 731119782"/>
          <p:cNvSpPr txBox="1"/>
          <p:nvPr/>
        </p:nvSpPr>
        <p:spPr>
          <a:xfrm>
            <a:off x="9281160" y="501091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10"/>
              </a:rPr>
              <a:t>npj Comput. Mater. (2025)</a:t>
            </a:r>
          </a:p>
        </p:txBody>
      </p:sp>
      <p:sp>
        <p:nvSpPr>
          <p:cNvPr id="731119784" name="TextBox 731119783"/>
          <p:cNvSpPr txBox="1"/>
          <p:nvPr/>
        </p:nvSpPr>
        <p:spPr>
          <a:xfrm>
            <a:off x="713232" y="5829300"/>
            <a:ext cx="14813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</a:rPr>
              <a:t>Run-to-run APC + virtual metrology</a:t>
            </a:r>
          </a:p>
        </p:txBody>
      </p:sp>
      <p:sp>
        <p:nvSpPr>
          <p:cNvPr id="731119785" name="TextBox 731119784"/>
          <p:cNvSpPr txBox="1"/>
          <p:nvPr/>
        </p:nvSpPr>
        <p:spPr>
          <a:xfrm>
            <a:off x="2286000" y="5829300"/>
            <a:ext cx="6812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262626"/>
                </a:solidFill>
              </a:rPr>
              <a:t>Industry practice (PVD). </a:t>
            </a:r>
            <a:r>
              <a:rPr sz="950" b="0" i="0">
                <a:solidFill>
                  <a:srgbClr val="262626"/>
                </a:solidFill>
              </a:rPr>
              <a:t>Published sputter-APC case: EWMA run-to-run control compensating target-erosion drift lifted Cpk from &lt;1.4 to &gt;2.0 — a retrospective simulation on historical fab data (vendor case study, not an audited production number). Tree-ensemble virtual metrology for PVD film properties: Chen et al., ISA Transactions 103 (2020).</a:t>
            </a:r>
          </a:p>
        </p:txBody>
      </p:sp>
      <p:sp>
        <p:nvSpPr>
          <p:cNvPr id="731119786" name="TextBox 731119785"/>
          <p:cNvSpPr txBox="1"/>
          <p:nvPr/>
        </p:nvSpPr>
        <p:spPr>
          <a:xfrm>
            <a:off x="9281160" y="582930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00" b="0" i="0" u="sng">
                <a:solidFill>
                  <a:srgbClr val="0563C1"/>
                </a:solidFill>
                <a:hlinkClick r:id="rId11"/>
              </a:rPr>
              <a:t>Spotfire sputter-APC article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953260" name="Text 0"/>
          <p:cNvSpPr/>
          <p:nvPr/>
        </p:nvSpPr>
        <p:spPr bwMode="auto">
          <a:xfrm>
            <a:off x="548640" y="457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60">
                <a:solidFill>
                  <a:srgbClr val="2B6CB0"/>
                </a:solidFill>
                <a:latin typeface="Arial"/>
                <a:ea typeface="Arial"/>
                <a:cs typeface="Arial"/>
              </a:rPr>
              <a:t>AI autonomous operation proposal · Problem definition</a:t>
            </a:r>
            <a:endParaRPr lang="en-US" sz="1100"/>
          </a:p>
        </p:txBody>
      </p:sp>
      <p:sp>
        <p:nvSpPr>
          <p:cNvPr id="1860923482" name="Text 1"/>
          <p:cNvSpPr/>
          <p:nvPr/>
        </p:nvSpPr>
        <p:spPr bwMode="auto">
          <a:xfrm>
            <a:off x="548640" y="713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Problem definition</a:t>
            </a:r>
            <a:endParaRPr lang="en-US" sz="3200"/>
          </a:p>
        </p:txBody>
      </p:sp>
      <p:sp>
        <p:nvSpPr>
          <p:cNvPr id="562248075" name="Text 2"/>
          <p:cNvSpPr/>
          <p:nvPr/>
        </p:nvSpPr>
        <p:spPr bwMode="auto">
          <a:xfrm>
            <a:off x="548640" y="1371600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A2A3B"/>
                </a:solidFill>
                <a:latin typeface="Arial"/>
                <a:ea typeface="Arial"/>
                <a:cs typeface="Arial"/>
              </a:rPr>
              <a:t>Process quality on MBE and PVD still rests on the operator's judgement in the moment. RHEED patterns are read by eye; target erosion and chamber drift on PVD are compensated through periodic spot checks and engineering experience. Three manufacturing problems follow.</a:t>
            </a:r>
            <a:endParaRPr lang="en-US" sz="1300"/>
          </a:p>
        </p:txBody>
      </p:sp>
      <p:sp>
        <p:nvSpPr>
          <p:cNvPr id="1545363528" name="Shape 3"/>
          <p:cNvSpPr/>
          <p:nvPr/>
        </p:nvSpPr>
        <p:spPr bwMode="auto">
          <a:xfrm>
            <a:off x="548640" y="1993392"/>
            <a:ext cx="3483864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43722732" name="Shape 4"/>
          <p:cNvSpPr/>
          <p:nvPr/>
        </p:nvSpPr>
        <p:spPr bwMode="auto">
          <a:xfrm>
            <a:off x="804672" y="2212848"/>
            <a:ext cx="292608" cy="292608"/>
          </a:xfrm>
          <a:prstGeom prst="ellipse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  <p:txBody>
          <a:bodyPr/>
          <a:p/>
        </p:txBody>
      </p:sp>
      <p:sp>
        <p:nvSpPr>
          <p:cNvPr id="1979624796" name="Text 5"/>
          <p:cNvSpPr/>
          <p:nvPr/>
        </p:nvSpPr>
        <p:spPr bwMode="auto">
          <a:xfrm>
            <a:off x="80467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en-US" sz="900"/>
          </a:p>
        </p:txBody>
      </p:sp>
      <p:sp>
        <p:nvSpPr>
          <p:cNvPr id="860104503" name="Text 6"/>
          <p:cNvSpPr/>
          <p:nvPr/>
        </p:nvSpPr>
        <p:spPr bwMode="auto">
          <a:xfrm>
            <a:off x="1188720" y="219456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Latency</a:t>
            </a:r>
            <a:endParaRPr lang="en-US" sz="1500"/>
          </a:p>
        </p:txBody>
      </p:sp>
      <p:sp>
        <p:nvSpPr>
          <p:cNvPr id="1258256535" name="Text 7"/>
          <p:cNvSpPr/>
          <p:nvPr/>
        </p:nvSpPr>
        <p:spPr bwMode="auto">
          <a:xfrm>
            <a:off x="804672" y="2596896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A human reacts to an anomaly in minutes. Growth-stage transitions — AlN nucleation giving way to streak recovery — open and close in seconds.</a:t>
            </a:r>
            <a:endParaRPr lang="en-US" sz="1100"/>
          </a:p>
        </p:txBody>
      </p:sp>
      <p:sp>
        <p:nvSpPr>
          <p:cNvPr id="377700223" name="Shape 8"/>
          <p:cNvSpPr/>
          <p:nvPr/>
        </p:nvSpPr>
        <p:spPr bwMode="auto">
          <a:xfrm>
            <a:off x="4352544" y="1993392"/>
            <a:ext cx="3483864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39687538" name="Shape 9"/>
          <p:cNvSpPr/>
          <p:nvPr/>
        </p:nvSpPr>
        <p:spPr bwMode="auto">
          <a:xfrm>
            <a:off x="4608576" y="2212848"/>
            <a:ext cx="292608" cy="29260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902425315" name="Text 10"/>
          <p:cNvSpPr/>
          <p:nvPr/>
        </p:nvSpPr>
        <p:spPr bwMode="auto">
          <a:xfrm>
            <a:off x="4608576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en-US" sz="900"/>
          </a:p>
        </p:txBody>
      </p:sp>
      <p:sp>
        <p:nvSpPr>
          <p:cNvPr id="1838116605" name="Text 11"/>
          <p:cNvSpPr/>
          <p:nvPr/>
        </p:nvSpPr>
        <p:spPr bwMode="auto">
          <a:xfrm>
            <a:off x="4992624" y="219456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Not reproducible</a:t>
            </a:r>
            <a:endParaRPr lang="en-US" sz="1500"/>
          </a:p>
        </p:txBody>
      </p:sp>
      <p:sp>
        <p:nvSpPr>
          <p:cNvPr id="92659618" name="Text 12"/>
          <p:cNvSpPr/>
          <p:nvPr/>
        </p:nvSpPr>
        <p:spPr bwMode="auto">
          <a:xfrm>
            <a:off x="4608576" y="2596896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The same recipe spreads across shifts and operators. That spread is one of the main sources of yield loss.</a:t>
            </a:r>
            <a:endParaRPr lang="en-US" sz="1100"/>
          </a:p>
        </p:txBody>
      </p:sp>
      <p:sp>
        <p:nvSpPr>
          <p:cNvPr id="901114063" name="Shape 13"/>
          <p:cNvSpPr/>
          <p:nvPr/>
        </p:nvSpPr>
        <p:spPr bwMode="auto">
          <a:xfrm>
            <a:off x="8156448" y="1993392"/>
            <a:ext cx="3483864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04447274" name="Shape 14"/>
          <p:cNvSpPr/>
          <p:nvPr/>
        </p:nvSpPr>
        <p:spPr bwMode="auto">
          <a:xfrm>
            <a:off x="8412480" y="2212848"/>
            <a:ext cx="292608" cy="292608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p/>
        </p:txBody>
      </p:sp>
      <p:sp>
        <p:nvSpPr>
          <p:cNvPr id="889063781" name="Text 15"/>
          <p:cNvSpPr/>
          <p:nvPr/>
        </p:nvSpPr>
        <p:spPr bwMode="auto">
          <a:xfrm>
            <a:off x="841248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en-US" sz="900"/>
          </a:p>
        </p:txBody>
      </p:sp>
      <p:sp>
        <p:nvSpPr>
          <p:cNvPr id="1386309734" name="Text 16"/>
          <p:cNvSpPr/>
          <p:nvPr/>
        </p:nvSpPr>
        <p:spPr bwMode="auto">
          <a:xfrm>
            <a:off x="8796528" y="2194560"/>
            <a:ext cx="2587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Does not scale</a:t>
            </a:r>
            <a:endParaRPr lang="en-US" sz="1500"/>
          </a:p>
        </p:txBody>
      </p:sp>
      <p:sp>
        <p:nvSpPr>
          <p:cNvPr id="1347138684" name="Text 17"/>
          <p:cNvSpPr/>
          <p:nvPr/>
        </p:nvSpPr>
        <p:spPr bwMode="auto">
          <a:xfrm>
            <a:off x="8412480" y="2596896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Doubling capacity means doubling skilled engineers, and skilled engineers cannot be produced on that schedule.</a:t>
            </a:r>
            <a:endParaRPr lang="en-US" sz="1100"/>
          </a:p>
        </p:txBody>
      </p:sp>
      <p:sp>
        <p:nvSpPr>
          <p:cNvPr id="233881078" name="Shape 18"/>
          <p:cNvSpPr/>
          <p:nvPr/>
        </p:nvSpPr>
        <p:spPr bwMode="auto">
          <a:xfrm>
            <a:off x="548640" y="3639312"/>
            <a:ext cx="11091672" cy="585216"/>
          </a:xfrm>
          <a:prstGeom prst="roundRect">
            <a:avLst>
              <a:gd name="adj" fmla="val 25000"/>
            </a:avLst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93770848" name="Text 19"/>
          <p:cNvSpPr/>
          <p:nvPr/>
        </p:nvSpPr>
        <p:spPr bwMode="auto">
          <a:xfrm>
            <a:off x="804672" y="363931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DFF4FF"/>
                </a:solidFill>
                <a:latin typeface="Arial"/>
                <a:ea typeface="Arial"/>
                <a:cs typeface="Arial"/>
              </a:rPr>
              <a:t>Objective</a:t>
            </a:r>
            <a:endParaRPr lang="en-US" sz="1100"/>
          </a:p>
        </p:txBody>
      </p:sp>
      <p:sp>
        <p:nvSpPr>
          <p:cNvPr id="479920596" name="Text 20"/>
          <p:cNvSpPr/>
          <p:nvPr/>
        </p:nvSpPr>
        <p:spPr bwMode="auto">
          <a:xfrm>
            <a:off x="1993392" y="3639312"/>
            <a:ext cx="9098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the equipment unattended: judge process state from in-situ signals, correct the control variables, and turn engineering intuition into an auditable, reusable software asset.</a:t>
            </a:r>
            <a:endParaRPr lang="en-US" sz="1200"/>
          </a:p>
        </p:txBody>
      </p:sp>
      <p:sp>
        <p:nvSpPr>
          <p:cNvPr id="977907015" name="Shape 21"/>
          <p:cNvSpPr/>
          <p:nvPr/>
        </p:nvSpPr>
        <p:spPr bwMode="auto">
          <a:xfrm>
            <a:off x="548640" y="4334256"/>
            <a:ext cx="11091672" cy="122529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601691" name="Text 22"/>
          <p:cNvSpPr/>
          <p:nvPr/>
        </p:nvSpPr>
        <p:spPr bwMode="auto">
          <a:xfrm>
            <a:off x="713232" y="4462272"/>
            <a:ext cx="10762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What "autonomous agent" means here — the strict definition</a:t>
            </a:r>
            <a:endParaRPr lang="en-US" sz="1000"/>
          </a:p>
        </p:txBody>
      </p:sp>
      <p:sp>
        <p:nvSpPr>
          <p:cNvPr id="571294237" name="Shape 23"/>
          <p:cNvSpPr/>
          <p:nvPr/>
        </p:nvSpPr>
        <p:spPr bwMode="auto">
          <a:xfrm>
            <a:off x="713232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478262033" name="Text 24"/>
          <p:cNvSpPr/>
          <p:nvPr/>
        </p:nvSpPr>
        <p:spPr bwMode="auto">
          <a:xfrm>
            <a:off x="71323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Sense</a:t>
            </a:r>
            <a:endParaRPr lang="en-US" sz="1050"/>
          </a:p>
        </p:txBody>
      </p:sp>
      <p:sp>
        <p:nvSpPr>
          <p:cNvPr id="1222261010" name="Text 25"/>
          <p:cNvSpPr/>
          <p:nvPr/>
        </p:nvSpPr>
        <p:spPr bwMode="auto">
          <a:xfrm>
            <a:off x="201168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6CB0"/>
                </a:solidFill>
                <a:latin typeface="Arial"/>
                <a:ea typeface="Arial"/>
                <a:cs typeface="Arial"/>
              </a:rPr>
              <a:t>→</a:t>
            </a:r>
            <a:endParaRPr lang="en-US" sz="1200"/>
          </a:p>
        </p:txBody>
      </p:sp>
      <p:sp>
        <p:nvSpPr>
          <p:cNvPr id="1497005355" name="Shape 26"/>
          <p:cNvSpPr/>
          <p:nvPr/>
        </p:nvSpPr>
        <p:spPr bwMode="auto">
          <a:xfrm>
            <a:off x="2552700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1519519558" name="Text 27"/>
          <p:cNvSpPr/>
          <p:nvPr/>
        </p:nvSpPr>
        <p:spPr bwMode="auto">
          <a:xfrm>
            <a:off x="226771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State estimate</a:t>
            </a:r>
            <a:endParaRPr lang="en-US" sz="1050"/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(with uncertainty)</a:t>
            </a:r>
            <a:endParaRPr lang="en-US" sz="1050"/>
          </a:p>
        </p:txBody>
      </p:sp>
      <p:sp>
        <p:nvSpPr>
          <p:cNvPr id="170402460" name="Text 28"/>
          <p:cNvSpPr/>
          <p:nvPr/>
        </p:nvSpPr>
        <p:spPr bwMode="auto">
          <a:xfrm>
            <a:off x="356616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6CB0"/>
                </a:solidFill>
                <a:latin typeface="Arial"/>
                <a:ea typeface="Arial"/>
                <a:cs typeface="Arial"/>
              </a:rPr>
              <a:t>→</a:t>
            </a:r>
            <a:endParaRPr lang="en-US" sz="1200"/>
          </a:p>
        </p:txBody>
      </p:sp>
      <p:sp>
        <p:nvSpPr>
          <p:cNvPr id="118859574" name="Shape 29"/>
          <p:cNvSpPr/>
          <p:nvPr/>
        </p:nvSpPr>
        <p:spPr bwMode="auto">
          <a:xfrm>
            <a:off x="4392168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641551844" name="Text 30"/>
          <p:cNvSpPr/>
          <p:nvPr/>
        </p:nvSpPr>
        <p:spPr bwMode="auto">
          <a:xfrm>
            <a:off x="3822191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Decide</a:t>
            </a:r>
            <a:endParaRPr lang="en-US" sz="1050"/>
          </a:p>
        </p:txBody>
      </p:sp>
      <p:sp>
        <p:nvSpPr>
          <p:cNvPr id="910410497" name="Text 31"/>
          <p:cNvSpPr/>
          <p:nvPr/>
        </p:nvSpPr>
        <p:spPr bwMode="auto">
          <a:xfrm>
            <a:off x="512064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6CB0"/>
                </a:solidFill>
                <a:latin typeface="Arial"/>
                <a:ea typeface="Arial"/>
                <a:cs typeface="Arial"/>
              </a:rPr>
              <a:t>→</a:t>
            </a:r>
            <a:endParaRPr lang="en-US" sz="1200"/>
          </a:p>
        </p:txBody>
      </p:sp>
      <p:sp>
        <p:nvSpPr>
          <p:cNvPr id="2077369404" name="Shape 32"/>
          <p:cNvSpPr/>
          <p:nvPr/>
        </p:nvSpPr>
        <p:spPr bwMode="auto">
          <a:xfrm>
            <a:off x="6231636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867408778" name="Text 33"/>
          <p:cNvSpPr/>
          <p:nvPr/>
        </p:nvSpPr>
        <p:spPr bwMode="auto">
          <a:xfrm>
            <a:off x="537667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Independent check</a:t>
            </a:r>
            <a:endParaRPr lang="en-US" sz="1050"/>
          </a:p>
        </p:txBody>
      </p:sp>
      <p:sp>
        <p:nvSpPr>
          <p:cNvPr id="1947736499" name="Text 34"/>
          <p:cNvSpPr/>
          <p:nvPr/>
        </p:nvSpPr>
        <p:spPr bwMode="auto">
          <a:xfrm>
            <a:off x="667512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6CB0"/>
                </a:solidFill>
                <a:latin typeface="Arial"/>
                <a:ea typeface="Arial"/>
                <a:cs typeface="Arial"/>
              </a:rPr>
              <a:t>→</a:t>
            </a:r>
            <a:endParaRPr lang="en-US" sz="1200"/>
          </a:p>
        </p:txBody>
      </p:sp>
      <p:sp>
        <p:nvSpPr>
          <p:cNvPr id="241427704" name="Shape 35"/>
          <p:cNvSpPr/>
          <p:nvPr/>
        </p:nvSpPr>
        <p:spPr bwMode="auto">
          <a:xfrm>
            <a:off x="8071104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1433409864" name="Text 36"/>
          <p:cNvSpPr/>
          <p:nvPr/>
        </p:nvSpPr>
        <p:spPr bwMode="auto">
          <a:xfrm>
            <a:off x="693115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Bounded action</a:t>
            </a:r>
            <a:endParaRPr lang="en-US" sz="1050"/>
          </a:p>
        </p:txBody>
      </p:sp>
      <p:sp>
        <p:nvSpPr>
          <p:cNvPr id="1539035492" name="Text 37"/>
          <p:cNvSpPr/>
          <p:nvPr/>
        </p:nvSpPr>
        <p:spPr bwMode="auto">
          <a:xfrm>
            <a:off x="822960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2B6CB0"/>
                </a:solidFill>
                <a:latin typeface="Arial"/>
                <a:ea typeface="Arial"/>
                <a:cs typeface="Arial"/>
              </a:rPr>
              <a:t>→</a:t>
            </a:r>
            <a:endParaRPr lang="en-US" sz="1200"/>
          </a:p>
        </p:txBody>
      </p:sp>
      <p:sp>
        <p:nvSpPr>
          <p:cNvPr id="1103077799" name="Shape 38"/>
          <p:cNvSpPr/>
          <p:nvPr/>
        </p:nvSpPr>
        <p:spPr bwMode="auto">
          <a:xfrm>
            <a:off x="9910571" y="4718304"/>
            <a:ext cx="1565148" cy="384048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1863947316" name="Text 39"/>
          <p:cNvSpPr/>
          <p:nvPr/>
        </p:nvSpPr>
        <p:spPr bwMode="auto">
          <a:xfrm>
            <a:off x="848563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Full audit trail</a:t>
            </a:r>
            <a:endParaRPr lang="en-US" sz="1050"/>
          </a:p>
        </p:txBody>
      </p:sp>
      <p:sp>
        <p:nvSpPr>
          <p:cNvPr id="363405800" name="Text 40"/>
          <p:cNvSpPr/>
          <p:nvPr/>
        </p:nvSpPr>
        <p:spPr bwMode="auto">
          <a:xfrm>
            <a:off x="713231" y="5989320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Every link carries an acceptance gate. When an input falls outside the model's competence, the system must return INFEASIBLE with a diagnosis rather than force an answer.</a:t>
            </a:r>
            <a:endParaRPr lang="en-US" sz="1100"/>
          </a:p>
        </p:txBody>
      </p:sp>
      <p:sp>
        <p:nvSpPr>
          <p:cNvPr id="1871241541" name="Text 45"/>
          <p:cNvSpPr/>
          <p:nvPr/>
        </p:nvSpPr>
        <p:spPr bwMode="auto">
          <a:xfrm>
            <a:off x="9784080" y="471830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7C7C"/>
                </a:solidFill>
                <a:latin typeface="Arial"/>
                <a:ea typeface="Arial"/>
                <a:cs typeface="Arial"/>
              </a:rPr>
              <a:t>→</a:t>
            </a:r>
            <a:endParaRPr lang="en-US" sz="1400"/>
          </a:p>
        </p:txBody>
      </p:sp>
      <p:sp>
        <p:nvSpPr>
          <p:cNvPr id="1987574827" name="Text 50"/>
          <p:cNvSpPr/>
          <p:nvPr/>
        </p:nvSpPr>
        <p:spPr bwMode="auto">
          <a:xfrm>
            <a:off x="10040112" y="47183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Learn &amp; refit</a:t>
            </a:r>
            <a:endParaRPr lang="en-US" sz="1200"/>
          </a:p>
        </p:txBody>
      </p:sp>
      <p:cxnSp>
        <p:nvCxnSpPr>
          <p:cNvPr id="2143722733" name="Connector 2143722732"/>
          <p:cNvCxnSpPr/>
          <p:nvPr/>
        </p:nvCxnSpPr>
        <p:spPr>
          <a:xfrm flipH="1">
            <a:off x="1362456" y="5303520"/>
            <a:ext cx="9326880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3722734" name="TextBox 2143722733"/>
          <p:cNvSpPr txBox="1"/>
          <p:nvPr/>
        </p:nvSpPr>
        <p:spPr>
          <a:xfrm>
            <a:off x="713232" y="5431536"/>
            <a:ext cx="10762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0E7C7B"/>
                </a:solidFill>
              </a:rPr>
              <a:t>Data flywheel — part of the loop, not a separate system: </a:t>
            </a:r>
            <a:r>
              <a:rPr sz="1000" b="0" i="0">
                <a:solidFill>
                  <a:srgbClr val="262626"/>
                </a:solidFill>
              </a:rPr>
              <a:t>every audited run returns as training data, so more data → sharper models → better decisions across the whole system. The agent improves itself by operating.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157716" name="Text 0"/>
          <p:cNvSpPr/>
          <p:nvPr/>
        </p:nvSpPr>
        <p:spPr bwMode="auto">
          <a:xfrm>
            <a:off x="548640" y="457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60">
                <a:solidFill>
                  <a:srgbClr val="2B6CB0"/>
                </a:solidFill>
                <a:latin typeface="Arial"/>
                <a:ea typeface="Arial"/>
                <a:cs typeface="Arial"/>
              </a:rPr>
              <a:t>AI autonomous operation proposal · Target workflow</a:t>
            </a:r>
            <a:endParaRPr lang="en-US" sz="1100"/>
          </a:p>
        </p:txBody>
      </p:sp>
      <p:sp>
        <p:nvSpPr>
          <p:cNvPr id="966448207" name="Text 1"/>
          <p:cNvSpPr/>
          <p:nvPr/>
        </p:nvSpPr>
        <p:spPr bwMode="auto">
          <a:xfrm>
            <a:off x="548640" y="713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Target intelligent autonomous workflow</a:t>
            </a:r>
            <a:endParaRPr lang="en-US" sz="3200"/>
          </a:p>
        </p:txBody>
      </p:sp>
      <p:sp>
        <p:nvSpPr>
          <p:cNvPr id="912332722" name="Shape 2"/>
          <p:cNvSpPr/>
          <p:nvPr/>
        </p:nvSpPr>
        <p:spPr bwMode="auto">
          <a:xfrm>
            <a:off x="411480" y="1572768"/>
            <a:ext cx="11365992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347444336" name="Shape 3"/>
          <p:cNvSpPr/>
          <p:nvPr/>
        </p:nvSpPr>
        <p:spPr bwMode="auto">
          <a:xfrm>
            <a:off x="4343400" y="1828800"/>
            <a:ext cx="288036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1436339529" name="Text 4"/>
          <p:cNvSpPr/>
          <p:nvPr/>
        </p:nvSpPr>
        <p:spPr bwMode="auto">
          <a:xfrm>
            <a:off x="434340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Data model</a:t>
            </a:r>
            <a:endParaRPr lang="en-US" sz="1500"/>
          </a:p>
        </p:txBody>
      </p:sp>
      <p:sp>
        <p:nvSpPr>
          <p:cNvPr id="629789569" name="Text 5"/>
          <p:cNvSpPr/>
          <p:nvPr/>
        </p:nvSpPr>
        <p:spPr bwMode="auto">
          <a:xfrm>
            <a:off x="4343400" y="22860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87688"/>
                </a:solidFill>
                <a:latin typeface="Arial"/>
                <a:ea typeface="Arial"/>
                <a:cs typeface="Arial"/>
              </a:rPr>
              <a:t>Learn / calibrate + optimize</a:t>
            </a:r>
            <a:endParaRPr lang="en-US" sz="1200"/>
          </a:p>
        </p:txBody>
      </p:sp>
      <p:sp>
        <p:nvSpPr>
          <p:cNvPr id="312044061" name="Shape 6"/>
          <p:cNvSpPr/>
          <p:nvPr/>
        </p:nvSpPr>
        <p:spPr bwMode="auto">
          <a:xfrm>
            <a:off x="4343400" y="3200400"/>
            <a:ext cx="2880360" cy="1097280"/>
          </a:xfrm>
          <a:prstGeom prst="roundRect">
            <a:avLst>
              <a:gd name="adj" fmla="val 11667"/>
            </a:avLst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1379564799" name="Text 7"/>
          <p:cNvSpPr/>
          <p:nvPr/>
        </p:nvSpPr>
        <p:spPr bwMode="auto">
          <a:xfrm>
            <a:off x="4343400" y="33284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MBE / PVD (equipment)</a:t>
            </a:r>
            <a:endParaRPr lang="en-US" sz="1500"/>
          </a:p>
        </p:txBody>
      </p:sp>
      <p:sp>
        <p:nvSpPr>
          <p:cNvPr id="1796557704" name="Text 8"/>
          <p:cNvSpPr/>
          <p:nvPr/>
        </p:nvSpPr>
        <p:spPr bwMode="auto">
          <a:xfrm>
            <a:off x="4343400" y="36576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DFF4FF"/>
                </a:solidFill>
                <a:latin typeface="Arial"/>
                <a:ea typeface="Arial"/>
                <a:cs typeface="Arial"/>
              </a:rPr>
              <a:t>Control + monitoring system</a:t>
            </a:r>
            <a:endParaRPr lang="en-US" sz="1200"/>
          </a:p>
        </p:txBody>
      </p:sp>
      <p:sp>
        <p:nvSpPr>
          <p:cNvPr id="148743747" name="Shape 9"/>
          <p:cNvSpPr/>
          <p:nvPr/>
        </p:nvSpPr>
        <p:spPr bwMode="auto">
          <a:xfrm>
            <a:off x="4343400" y="4892039"/>
            <a:ext cx="288036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310193514" name="Text 10"/>
          <p:cNvSpPr/>
          <p:nvPr/>
        </p:nvSpPr>
        <p:spPr bwMode="auto">
          <a:xfrm>
            <a:off x="4343400" y="4892039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Measurement feedback</a:t>
            </a:r>
            <a:endParaRPr lang="en-US" sz="1500"/>
          </a:p>
        </p:txBody>
      </p:sp>
      <p:sp>
        <p:nvSpPr>
          <p:cNvPr id="2031492836" name="Shape 11"/>
          <p:cNvSpPr/>
          <p:nvPr/>
        </p:nvSpPr>
        <p:spPr bwMode="auto">
          <a:xfrm>
            <a:off x="8549640" y="3200400"/>
            <a:ext cx="2834640" cy="1097280"/>
          </a:xfrm>
          <a:prstGeom prst="roundRect">
            <a:avLst>
              <a:gd name="adj" fmla="val 11667"/>
            </a:avLst>
          </a:prstGeom>
          <a:solidFill>
            <a:srgbClr val="DFF4FF"/>
          </a:solidFill>
          <a:ln w="19050">
            <a:solidFill>
              <a:srgbClr val="00A3A3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2109811688" name="Text 12"/>
          <p:cNvSpPr/>
          <p:nvPr/>
        </p:nvSpPr>
        <p:spPr bwMode="auto">
          <a:xfrm>
            <a:off x="8549640" y="3310127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15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Local LLM orchestrator</a:t>
            </a:r>
            <a:endParaRPr lang="en-US" sz="1500"/>
          </a:p>
        </p:txBody>
      </p:sp>
      <p:sp>
        <p:nvSpPr>
          <p:cNvPr id="1289745732" name="Text 13"/>
          <p:cNvSpPr/>
          <p:nvPr/>
        </p:nvSpPr>
        <p:spPr bwMode="auto">
          <a:xfrm>
            <a:off x="8549640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D7C7C"/>
                </a:solidFill>
                <a:latin typeface="Arial"/>
                <a:ea typeface="Arial"/>
                <a:cs typeface="Arial"/>
              </a:rPr>
              <a:t>Reason + instruct</a:t>
            </a:r>
            <a:endParaRPr lang="en-US" sz="1200"/>
          </a:p>
        </p:txBody>
      </p:sp>
      <p:sp>
        <p:nvSpPr>
          <p:cNvPr id="593812569" name="Shape 14"/>
          <p:cNvSpPr/>
          <p:nvPr/>
        </p:nvSpPr>
        <p:spPr bwMode="auto">
          <a:xfrm>
            <a:off x="5783580" y="2706624"/>
            <a:ext cx="0" cy="493776"/>
          </a:xfrm>
          <a:prstGeom prst="line">
            <a:avLst/>
          </a:prstGeom>
          <a:noFill/>
          <a:ln w="22225">
            <a:solidFill>
              <a:srgbClr val="A9BED3"/>
            </a:solidFill>
            <a:prstDash val="solid"/>
            <a:tailEnd type="triangle"/>
          </a:ln>
        </p:spPr>
      </p:sp>
      <p:sp>
        <p:nvSpPr>
          <p:cNvPr id="1703943581" name="Shape 15"/>
          <p:cNvSpPr/>
          <p:nvPr/>
        </p:nvSpPr>
        <p:spPr bwMode="auto">
          <a:xfrm>
            <a:off x="5783580" y="4297680"/>
            <a:ext cx="0" cy="594360"/>
          </a:xfrm>
          <a:prstGeom prst="line">
            <a:avLst/>
          </a:prstGeom>
          <a:noFill/>
          <a:ln w="22225">
            <a:solidFill>
              <a:srgbClr val="A9BED3"/>
            </a:solidFill>
            <a:prstDash val="solid"/>
            <a:tailEnd type="triangle"/>
          </a:ln>
        </p:spPr>
      </p:sp>
      <p:sp>
        <p:nvSpPr>
          <p:cNvPr id="933356564" name="Shape 16"/>
          <p:cNvSpPr/>
          <p:nvPr/>
        </p:nvSpPr>
        <p:spPr bwMode="auto">
          <a:xfrm>
            <a:off x="3520440" y="5280660"/>
            <a:ext cx="822960" cy="0"/>
          </a:xfrm>
          <a:prstGeom prst="line">
            <a:avLst/>
          </a:prstGeom>
          <a:noFill/>
          <a:ln w="22225">
            <a:solidFill>
              <a:srgbClr val="A9BED3"/>
            </a:solidFill>
            <a:prstDash val="solid"/>
          </a:ln>
        </p:spPr>
      </p:sp>
      <p:sp>
        <p:nvSpPr>
          <p:cNvPr id="1878148930" name="Shape 17"/>
          <p:cNvSpPr/>
          <p:nvPr/>
        </p:nvSpPr>
        <p:spPr bwMode="auto">
          <a:xfrm>
            <a:off x="3520440" y="2212848"/>
            <a:ext cx="0" cy="3067812"/>
          </a:xfrm>
          <a:prstGeom prst="line">
            <a:avLst/>
          </a:prstGeom>
          <a:noFill/>
          <a:ln w="22225">
            <a:solidFill>
              <a:srgbClr val="A9BED3"/>
            </a:solidFill>
            <a:prstDash val="solid"/>
          </a:ln>
        </p:spPr>
      </p:sp>
      <p:sp>
        <p:nvSpPr>
          <p:cNvPr id="1295342897" name="Shape 18"/>
          <p:cNvSpPr/>
          <p:nvPr/>
        </p:nvSpPr>
        <p:spPr bwMode="auto">
          <a:xfrm>
            <a:off x="3520440" y="2212848"/>
            <a:ext cx="822960" cy="0"/>
          </a:xfrm>
          <a:prstGeom prst="line">
            <a:avLst/>
          </a:prstGeom>
          <a:noFill/>
          <a:ln w="22225">
            <a:solidFill>
              <a:srgbClr val="A9BED3"/>
            </a:solidFill>
            <a:prstDash val="solid"/>
            <a:tailEnd type="triangle"/>
          </a:ln>
        </p:spPr>
      </p:sp>
      <p:sp>
        <p:nvSpPr>
          <p:cNvPr id="1287604843" name="Shape 19"/>
          <p:cNvSpPr/>
          <p:nvPr/>
        </p:nvSpPr>
        <p:spPr bwMode="auto">
          <a:xfrm>
            <a:off x="7223760" y="3520440"/>
            <a:ext cx="1325880" cy="0"/>
          </a:xfrm>
          <a:prstGeom prst="line">
            <a:avLst/>
          </a:prstGeom>
          <a:noFill/>
          <a:ln w="22225">
            <a:solidFill>
              <a:srgbClr val="00A3A3"/>
            </a:solidFill>
            <a:prstDash val="solid"/>
            <a:tailEnd type="triangle"/>
          </a:ln>
        </p:spPr>
      </p:sp>
      <p:sp>
        <p:nvSpPr>
          <p:cNvPr id="396476233" name="Shape 20"/>
          <p:cNvSpPr/>
          <p:nvPr/>
        </p:nvSpPr>
        <p:spPr bwMode="auto">
          <a:xfrm>
            <a:off x="7223760" y="4023360"/>
            <a:ext cx="1325880" cy="0"/>
          </a:xfrm>
          <a:prstGeom prst="line">
            <a:avLst/>
          </a:prstGeom>
          <a:noFill/>
          <a:ln w="22225">
            <a:solidFill>
              <a:srgbClr val="00A3A3"/>
            </a:solidFill>
            <a:prstDash val="solid"/>
            <a:headEnd type="triangle"/>
          </a:ln>
        </p:spPr>
      </p:sp>
      <p:sp>
        <p:nvSpPr>
          <p:cNvPr id="430941001" name="Shape 21"/>
          <p:cNvSpPr/>
          <p:nvPr/>
        </p:nvSpPr>
        <p:spPr bwMode="auto">
          <a:xfrm>
            <a:off x="9966960" y="2212848"/>
            <a:ext cx="0" cy="987552"/>
          </a:xfrm>
          <a:prstGeom prst="line">
            <a:avLst/>
          </a:prstGeom>
          <a:noFill/>
          <a:ln w="22225">
            <a:solidFill>
              <a:srgbClr val="00A3A3"/>
            </a:solidFill>
            <a:prstDash val="solid"/>
          </a:ln>
        </p:spPr>
      </p:sp>
      <p:sp>
        <p:nvSpPr>
          <p:cNvPr id="142640882" name="Shape 22"/>
          <p:cNvSpPr/>
          <p:nvPr/>
        </p:nvSpPr>
        <p:spPr bwMode="auto">
          <a:xfrm>
            <a:off x="7223760" y="2212848"/>
            <a:ext cx="2743200" cy="0"/>
          </a:xfrm>
          <a:prstGeom prst="line">
            <a:avLst/>
          </a:prstGeom>
          <a:noFill/>
          <a:ln w="22225">
            <a:solidFill>
              <a:srgbClr val="00A3A3"/>
            </a:solidFill>
            <a:prstDash val="solid"/>
            <a:headEnd type="triangle"/>
          </a:ln>
        </p:spPr>
      </p:sp>
      <p:sp>
        <p:nvSpPr>
          <p:cNvPr id="1570355951" name="Shape 23"/>
          <p:cNvSpPr/>
          <p:nvPr/>
        </p:nvSpPr>
        <p:spPr bwMode="auto">
          <a:xfrm>
            <a:off x="685800" y="211226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</p:sp>
      <p:sp>
        <p:nvSpPr>
          <p:cNvPr id="1110885617" name="Text 24"/>
          <p:cNvSpPr/>
          <p:nvPr/>
        </p:nvSpPr>
        <p:spPr bwMode="auto">
          <a:xfrm>
            <a:off x="685800" y="21122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Run to run</a:t>
            </a:r>
            <a:endParaRPr lang="en-US" sz="1100"/>
          </a:p>
        </p:txBody>
      </p:sp>
      <p:sp>
        <p:nvSpPr>
          <p:cNvPr id="1114367653" name="Shape 25"/>
          <p:cNvSpPr/>
          <p:nvPr/>
        </p:nvSpPr>
        <p:spPr bwMode="auto">
          <a:xfrm>
            <a:off x="685800" y="359359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</p:sp>
      <p:sp>
        <p:nvSpPr>
          <p:cNvPr id="1342573644" name="Text 26"/>
          <p:cNvSpPr/>
          <p:nvPr/>
        </p:nvSpPr>
        <p:spPr bwMode="auto">
          <a:xfrm>
            <a:off x="685800" y="35935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In-situ</a:t>
            </a:r>
            <a:endParaRPr lang="en-US" sz="1100"/>
          </a:p>
        </p:txBody>
      </p:sp>
      <p:sp>
        <p:nvSpPr>
          <p:cNvPr id="518093401" name="Shape 27"/>
          <p:cNvSpPr/>
          <p:nvPr/>
        </p:nvSpPr>
        <p:spPr bwMode="auto">
          <a:xfrm>
            <a:off x="685800" y="51252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</p:sp>
      <p:sp>
        <p:nvSpPr>
          <p:cNvPr id="254376384" name="Text 28"/>
          <p:cNvSpPr/>
          <p:nvPr/>
        </p:nvSpPr>
        <p:spPr bwMode="auto">
          <a:xfrm>
            <a:off x="685800" y="51252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Ex-situ</a:t>
            </a:r>
            <a:endParaRPr lang="en-US" sz="1100"/>
          </a:p>
        </p:txBody>
      </p:sp>
      <p:sp>
        <p:nvSpPr>
          <p:cNvPr id="873350244" name="Text 29"/>
          <p:cNvSpPr/>
          <p:nvPr/>
        </p:nvSpPr>
        <p:spPr bwMode="auto">
          <a:xfrm>
            <a:off x="5897880" y="268833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87688"/>
                </a:solidFill>
                <a:latin typeface="Arial"/>
                <a:ea typeface="Arial"/>
                <a:cs typeface="Arial"/>
              </a:rPr>
              <a:t>optimize</a:t>
            </a:r>
            <a:endParaRPr lang="en-US" sz="1050"/>
          </a:p>
          <a:p>
            <a:pPr marL="0" indent="0" algn="l">
              <a:buNone/>
              <a:defRPr/>
            </a:pPr>
            <a:r>
              <a:rPr lang="en-US" sz="1050">
                <a:solidFill>
                  <a:srgbClr val="687688"/>
                </a:solidFill>
                <a:latin typeface="Arial"/>
                <a:ea typeface="Arial"/>
                <a:cs typeface="Arial"/>
              </a:rPr>
              <a:t>Input</a:t>
            </a:r>
            <a:endParaRPr lang="en-US" sz="1050"/>
          </a:p>
        </p:txBody>
      </p:sp>
      <p:sp>
        <p:nvSpPr>
          <p:cNvPr id="209714289" name="Text 30"/>
          <p:cNvSpPr/>
          <p:nvPr/>
        </p:nvSpPr>
        <p:spPr bwMode="auto">
          <a:xfrm>
            <a:off x="5897880" y="4443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87688"/>
                </a:solidFill>
                <a:latin typeface="Arial"/>
                <a:ea typeface="Arial"/>
                <a:cs typeface="Arial"/>
              </a:rPr>
              <a:t>Output wafer</a:t>
            </a:r>
            <a:endParaRPr lang="en-US" sz="1050"/>
          </a:p>
        </p:txBody>
      </p:sp>
      <p:sp>
        <p:nvSpPr>
          <p:cNvPr id="880792798" name="Text 31"/>
          <p:cNvSpPr/>
          <p:nvPr/>
        </p:nvSpPr>
        <p:spPr bwMode="auto">
          <a:xfrm>
            <a:off x="2240280" y="4206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87688"/>
                </a:solidFill>
                <a:latin typeface="Arial"/>
                <a:ea typeface="Arial"/>
                <a:cs typeface="Arial"/>
              </a:rPr>
              <a:t>Output data</a:t>
            </a:r>
            <a:endParaRPr lang="en-US" sz="1050"/>
          </a:p>
        </p:txBody>
      </p:sp>
      <p:sp>
        <p:nvSpPr>
          <p:cNvPr id="1285164931" name="Text 32"/>
          <p:cNvSpPr/>
          <p:nvPr/>
        </p:nvSpPr>
        <p:spPr bwMode="auto">
          <a:xfrm>
            <a:off x="7269480" y="3246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0D7C7C"/>
                </a:solidFill>
                <a:latin typeface="Arial"/>
                <a:ea typeface="Arial"/>
                <a:cs typeface="Arial"/>
              </a:rPr>
              <a:t>feedback</a:t>
            </a:r>
            <a:endParaRPr lang="en-US" sz="1050"/>
          </a:p>
        </p:txBody>
      </p:sp>
      <p:sp>
        <p:nvSpPr>
          <p:cNvPr id="146178213" name="Text 33"/>
          <p:cNvSpPr/>
          <p:nvPr/>
        </p:nvSpPr>
        <p:spPr bwMode="auto">
          <a:xfrm>
            <a:off x="7269480" y="4078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0D7C7C"/>
                </a:solidFill>
                <a:latin typeface="Arial"/>
                <a:ea typeface="Arial"/>
                <a:cs typeface="Arial"/>
              </a:rPr>
              <a:t>control</a:t>
            </a:r>
            <a:endParaRPr lang="en-US" sz="1050"/>
          </a:p>
        </p:txBody>
      </p:sp>
      <p:sp>
        <p:nvSpPr>
          <p:cNvPr id="1476113781" name="Text 34"/>
          <p:cNvSpPr/>
          <p:nvPr/>
        </p:nvSpPr>
        <p:spPr bwMode="auto">
          <a:xfrm>
            <a:off x="8183880" y="194767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0D7C7C"/>
                </a:solidFill>
                <a:latin typeface="Arial"/>
                <a:ea typeface="Arial"/>
                <a:cs typeface="Arial"/>
              </a:rPr>
              <a:t>control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404429" name="Text 0"/>
          <p:cNvSpPr/>
          <p:nvPr/>
        </p:nvSpPr>
        <p:spPr bwMode="auto">
          <a:xfrm>
            <a:off x="548640" y="457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60">
                <a:solidFill>
                  <a:srgbClr val="2B6CB0"/>
                </a:solidFill>
                <a:latin typeface="Arial"/>
                <a:ea typeface="Arial"/>
                <a:cs typeface="Arial"/>
              </a:rPr>
              <a:t>AI autonomous operation proposal · Existing foundation</a:t>
            </a:r>
            <a:endParaRPr lang="en-US" sz="1100"/>
          </a:p>
        </p:txBody>
      </p:sp>
      <p:sp>
        <p:nvSpPr>
          <p:cNvPr id="2036494029" name="Text 1"/>
          <p:cNvSpPr/>
          <p:nvPr/>
        </p:nvSpPr>
        <p:spPr bwMode="auto">
          <a:xfrm>
            <a:off x="548640" y="713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Existing foundation: in-house software</a:t>
            </a:r>
            <a:endParaRPr lang="en-US" sz="3200"/>
          </a:p>
        </p:txBody>
      </p:sp>
      <p:sp>
        <p:nvSpPr>
          <p:cNvPr id="1357950070" name="Shape 2"/>
          <p:cNvSpPr/>
          <p:nvPr/>
        </p:nvSpPr>
        <p:spPr bwMode="auto">
          <a:xfrm>
            <a:off x="548640" y="1627632"/>
            <a:ext cx="3483864" cy="443484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1584944877" name="Shape 3"/>
          <p:cNvSpPr/>
          <p:nvPr/>
        </p:nvSpPr>
        <p:spPr bwMode="auto">
          <a:xfrm>
            <a:off x="804672" y="1810512"/>
            <a:ext cx="365760" cy="365760"/>
          </a:xfrm>
          <a:prstGeom prst="ellipse">
            <a:avLst/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</p:sp>
      <p:sp>
        <p:nvSpPr>
          <p:cNvPr id="552798826" name="Text 4"/>
          <p:cNvSpPr/>
          <p:nvPr/>
        </p:nvSpPr>
        <p:spPr bwMode="auto">
          <a:xfrm>
            <a:off x="80467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en-US" sz="1100"/>
          </a:p>
        </p:txBody>
      </p:sp>
      <p:sp>
        <p:nvSpPr>
          <p:cNvPr id="1382315697" name="Text 5"/>
          <p:cNvSpPr/>
          <p:nvPr/>
        </p:nvSpPr>
        <p:spPr bwMode="auto">
          <a:xfrm>
            <a:off x="804672" y="2304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20">
                <a:solidFill>
                  <a:srgbClr val="2B6CB0"/>
                </a:solidFill>
                <a:latin typeface="Arial"/>
                <a:ea typeface="Arial"/>
                <a:cs typeface="Arial"/>
              </a:rPr>
              <a:t>Data model</a:t>
            </a:r>
            <a:endParaRPr lang="en-US" sz="1100"/>
          </a:p>
        </p:txBody>
      </p:sp>
      <p:sp>
        <p:nvSpPr>
          <p:cNvPr id="1237744078" name="Text 6"/>
          <p:cNvSpPr/>
          <p:nvPr/>
        </p:nvSpPr>
        <p:spPr bwMode="auto">
          <a:xfrm>
            <a:off x="804672" y="25237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7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Recipe-Inverse Generator (RIG)</a:t>
            </a:r>
            <a:endParaRPr lang="en-US" sz="1700"/>
          </a:p>
        </p:txBody>
      </p:sp>
      <p:sp>
        <p:nvSpPr>
          <p:cNvPr id="1813254881" name="Text 7"/>
          <p:cNvSpPr/>
          <p:nvPr/>
        </p:nvSpPr>
        <p:spPr bwMode="auto">
          <a:xfrm>
            <a:off x="804672" y="3163824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1A2A3B"/>
                </a:solidFill>
                <a:latin typeface="Arial"/>
                <a:ea typeface="Arial"/>
                <a:cs typeface="Arial"/>
              </a:rPr>
              <a:t>A forward model from recipe to result, plus an inverse solver that back-calculates candidate recipes. The aim is to find recipes that meet the requirement.</a:t>
            </a:r>
            <a:endParaRPr lang="en-US" sz="1200"/>
          </a:p>
        </p:txBody>
      </p:sp>
      <p:sp>
        <p:nvSpPr>
          <p:cNvPr id="2063462622" name="Shape 8"/>
          <p:cNvSpPr/>
          <p:nvPr/>
        </p:nvSpPr>
        <p:spPr bwMode="auto">
          <a:xfrm>
            <a:off x="713232" y="4553712"/>
            <a:ext cx="3154680" cy="1426464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907956713" name="Text 9"/>
          <p:cNvSpPr/>
          <p:nvPr/>
        </p:nvSpPr>
        <p:spPr bwMode="auto">
          <a:xfrm>
            <a:off x="859536" y="466344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Verified</a:t>
            </a:r>
            <a:endParaRPr lang="en-US" sz="950"/>
          </a:p>
        </p:txBody>
      </p:sp>
      <p:sp>
        <p:nvSpPr>
          <p:cNvPr id="934216942" name="Text 10"/>
          <p:cNvSpPr/>
          <p:nvPr/>
        </p:nvSpPr>
        <p:spPr bwMode="auto">
          <a:xfrm>
            <a:off x="859536" y="4846320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Tested on Empa's real magnetron sputtering HiPIMS (PVD) dataset</a:t>
            </a:r>
            <a:endParaRPr lang="en-US" sz="1100"/>
          </a:p>
        </p:txBody>
      </p:sp>
      <p:sp>
        <p:nvSpPr>
          <p:cNvPr id="1722815811" name="Text 11"/>
          <p:cNvSpPr/>
          <p:nvPr/>
        </p:nvSpPr>
        <p:spPr bwMode="auto">
          <a:xfrm>
            <a:off x="859536" y="539496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Next</a:t>
            </a:r>
            <a:endParaRPr lang="en-US" sz="950"/>
          </a:p>
        </p:txBody>
      </p:sp>
      <p:sp>
        <p:nvSpPr>
          <p:cNvPr id="2095476356" name="Text 12"/>
          <p:cNvSpPr/>
          <p:nvPr/>
        </p:nvSpPr>
        <p:spPr bwMode="auto">
          <a:xfrm>
            <a:off x="859536" y="55778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 b="1">
                <a:solidFill>
                  <a:srgbClr val="0D7C7C"/>
                </a:solidFill>
                <a:latin typeface="Arial"/>
                <a:ea typeface="Arial"/>
                <a:cs typeface="Arial"/>
              </a:rPr>
              <a:t>Validation on real tool data</a:t>
            </a:r>
            <a:endParaRPr lang="en-US" sz="1100"/>
          </a:p>
        </p:txBody>
      </p:sp>
      <p:sp>
        <p:nvSpPr>
          <p:cNvPr id="1581259678" name="Shape 13"/>
          <p:cNvSpPr/>
          <p:nvPr/>
        </p:nvSpPr>
        <p:spPr bwMode="auto">
          <a:xfrm>
            <a:off x="4352544" y="1627632"/>
            <a:ext cx="3483864" cy="443484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1267678758" name="Shape 14"/>
          <p:cNvSpPr/>
          <p:nvPr/>
        </p:nvSpPr>
        <p:spPr bwMode="auto">
          <a:xfrm>
            <a:off x="4608576" y="1810512"/>
            <a:ext cx="365760" cy="3657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91652597" name="Text 15"/>
          <p:cNvSpPr/>
          <p:nvPr/>
        </p:nvSpPr>
        <p:spPr bwMode="auto">
          <a:xfrm>
            <a:off x="4608576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en-US" sz="1100"/>
          </a:p>
        </p:txBody>
      </p:sp>
      <p:sp>
        <p:nvSpPr>
          <p:cNvPr id="1558748335" name="Text 16"/>
          <p:cNvSpPr/>
          <p:nvPr/>
        </p:nvSpPr>
        <p:spPr bwMode="auto">
          <a:xfrm>
            <a:off x="4608576" y="2304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20">
                <a:solidFill>
                  <a:srgbClr val="2B6CB0"/>
                </a:solidFill>
                <a:latin typeface="Arial"/>
                <a:ea typeface="Arial"/>
                <a:cs typeface="Arial"/>
              </a:rPr>
              <a:t>Sensing and control</a:t>
            </a:r>
            <a:endParaRPr lang="en-US" sz="1100"/>
          </a:p>
        </p:txBody>
      </p:sp>
      <p:sp>
        <p:nvSpPr>
          <p:cNvPr id="1165883097" name="Text 17"/>
          <p:cNvSpPr/>
          <p:nvPr/>
        </p:nvSpPr>
        <p:spPr bwMode="auto">
          <a:xfrm>
            <a:off x="4608576" y="25237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7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RHEED Analysis</a:t>
            </a:r>
            <a:endParaRPr lang="en-US" sz="1700"/>
          </a:p>
        </p:txBody>
      </p:sp>
      <p:sp>
        <p:nvSpPr>
          <p:cNvPr id="909087638" name="Text 18"/>
          <p:cNvSpPr/>
          <p:nvPr/>
        </p:nvSpPr>
        <p:spPr bwMode="auto">
          <a:xfrm>
            <a:off x="4608576" y="3163824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1A2A3B"/>
                </a:solidFill>
                <a:latin typeface="Arial"/>
                <a:ea typeface="Arial"/>
                <a:cs typeface="Arial"/>
              </a:rPr>
              <a:t>A CNN + ViT computer vision pipeline for image analysis and monitoring. The aim is to find transition points and use an LLM to interpret them and act.</a:t>
            </a:r>
            <a:endParaRPr lang="en-US" sz="1200"/>
          </a:p>
        </p:txBody>
      </p:sp>
      <p:sp>
        <p:nvSpPr>
          <p:cNvPr id="902536936" name="Shape 19"/>
          <p:cNvSpPr/>
          <p:nvPr/>
        </p:nvSpPr>
        <p:spPr bwMode="auto">
          <a:xfrm>
            <a:off x="4517136" y="4553712"/>
            <a:ext cx="3154680" cy="1426464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43379395" name="Text 20"/>
          <p:cNvSpPr/>
          <p:nvPr/>
        </p:nvSpPr>
        <p:spPr bwMode="auto">
          <a:xfrm>
            <a:off x="4663440" y="466344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Verified</a:t>
            </a:r>
            <a:endParaRPr lang="en-US" sz="950"/>
          </a:p>
        </p:txBody>
      </p:sp>
      <p:sp>
        <p:nvSpPr>
          <p:cNvPr id="546502098" name="Text 21"/>
          <p:cNvSpPr/>
          <p:nvPr/>
        </p:nvSpPr>
        <p:spPr bwMode="auto">
          <a:xfrm>
            <a:off x="4663440" y="4846320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Tested on two sets of real TiO</a:t>
            </a:r>
            <a:r>
              <a:rPr lang="en-US" sz="1100" baseline="-25000">
                <a:solidFill>
                  <a:srgbClr val="1A2A3B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 RHEED data</a:t>
            </a:r>
            <a:endParaRPr lang="en-US" sz="1100"/>
          </a:p>
        </p:txBody>
      </p:sp>
      <p:sp>
        <p:nvSpPr>
          <p:cNvPr id="936526281" name="Text 22"/>
          <p:cNvSpPr/>
          <p:nvPr/>
        </p:nvSpPr>
        <p:spPr bwMode="auto">
          <a:xfrm>
            <a:off x="4663440" y="539496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Next</a:t>
            </a:r>
            <a:endParaRPr lang="en-US" sz="950"/>
          </a:p>
        </p:txBody>
      </p:sp>
      <p:sp>
        <p:nvSpPr>
          <p:cNvPr id="1791769396" name="Text 23"/>
          <p:cNvSpPr/>
          <p:nvPr/>
        </p:nvSpPr>
        <p:spPr bwMode="auto">
          <a:xfrm>
            <a:off x="4663440" y="55778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 b="1">
                <a:solidFill>
                  <a:srgbClr val="0D7C7C"/>
                </a:solidFill>
                <a:latin typeface="Arial"/>
                <a:ea typeface="Arial"/>
                <a:cs typeface="Arial"/>
              </a:rPr>
              <a:t>GaN RHEED validation + tool validation</a:t>
            </a:r>
            <a:endParaRPr lang="en-US" sz="1100"/>
          </a:p>
        </p:txBody>
      </p:sp>
      <p:sp>
        <p:nvSpPr>
          <p:cNvPr id="472555177" name="Shape 24"/>
          <p:cNvSpPr/>
          <p:nvPr/>
        </p:nvSpPr>
        <p:spPr bwMode="auto">
          <a:xfrm>
            <a:off x="8156448" y="1627632"/>
            <a:ext cx="3483864" cy="443484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</p:sp>
      <p:sp>
        <p:nvSpPr>
          <p:cNvPr id="943336264" name="Shape 25"/>
          <p:cNvSpPr/>
          <p:nvPr/>
        </p:nvSpPr>
        <p:spPr bwMode="auto">
          <a:xfrm>
            <a:off x="8412480" y="1810512"/>
            <a:ext cx="365760" cy="365760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806445898" name="Text 26"/>
          <p:cNvSpPr/>
          <p:nvPr/>
        </p:nvSpPr>
        <p:spPr bwMode="auto">
          <a:xfrm>
            <a:off x="841248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en-US" sz="1100"/>
          </a:p>
        </p:txBody>
      </p:sp>
      <p:sp>
        <p:nvSpPr>
          <p:cNvPr id="2126144494" name="Text 27"/>
          <p:cNvSpPr/>
          <p:nvPr/>
        </p:nvSpPr>
        <p:spPr bwMode="auto">
          <a:xfrm>
            <a:off x="8412480" y="2304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20">
                <a:solidFill>
                  <a:srgbClr val="2B6CB0"/>
                </a:solidFill>
                <a:latin typeface="Arial"/>
                <a:ea typeface="Arial"/>
                <a:cs typeface="Arial"/>
              </a:rPr>
              <a:t>Physical simulation</a:t>
            </a:r>
            <a:endParaRPr lang="en-US" sz="1100"/>
          </a:p>
        </p:txBody>
      </p:sp>
      <p:sp>
        <p:nvSpPr>
          <p:cNvPr id="1072228178" name="Text 28"/>
          <p:cNvSpPr/>
          <p:nvPr/>
        </p:nvSpPr>
        <p:spPr bwMode="auto">
          <a:xfrm>
            <a:off x="8412480" y="25237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7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MBE Simulation</a:t>
            </a:r>
            <a:endParaRPr lang="en-US" sz="1700"/>
          </a:p>
        </p:txBody>
      </p:sp>
      <p:sp>
        <p:nvSpPr>
          <p:cNvPr id="845229172" name="Text 29"/>
          <p:cNvSpPr/>
          <p:nvPr/>
        </p:nvSpPr>
        <p:spPr bwMode="auto">
          <a:xfrm>
            <a:off x="8412480" y="3163824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1A2A3B"/>
                </a:solidFill>
                <a:latin typeface="Arial"/>
                <a:ea typeface="Arial"/>
                <a:cs typeface="Arial"/>
              </a:rPr>
              <a:t>A simulation model of the MBE chamber built from physics.</a:t>
            </a:r>
            <a:endParaRPr lang="en-US" sz="1200"/>
          </a:p>
        </p:txBody>
      </p:sp>
      <p:sp>
        <p:nvSpPr>
          <p:cNvPr id="791506758" name="Shape 30"/>
          <p:cNvSpPr/>
          <p:nvPr/>
        </p:nvSpPr>
        <p:spPr bwMode="auto">
          <a:xfrm>
            <a:off x="8321039" y="4553712"/>
            <a:ext cx="3154680" cy="1426464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537579146" name="Text 31"/>
          <p:cNvSpPr/>
          <p:nvPr/>
        </p:nvSpPr>
        <p:spPr bwMode="auto">
          <a:xfrm>
            <a:off x="8467344" y="466344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Verified</a:t>
            </a:r>
            <a:endParaRPr lang="en-US" sz="950"/>
          </a:p>
        </p:txBody>
      </p:sp>
      <p:sp>
        <p:nvSpPr>
          <p:cNvPr id="1332144079" name="Text 32"/>
          <p:cNvSpPr/>
          <p:nvPr/>
        </p:nvSpPr>
        <p:spPr bwMode="auto">
          <a:xfrm>
            <a:off x="8467344" y="4846320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1A2A3B"/>
                </a:solidFill>
                <a:latin typeface="Arial"/>
                <a:ea typeface="Arial"/>
                <a:cs typeface="Arial"/>
              </a:rPr>
              <a:t>Underlying physics built out and refined</a:t>
            </a:r>
            <a:endParaRPr lang="en-US" sz="1100"/>
          </a:p>
        </p:txBody>
      </p:sp>
      <p:sp>
        <p:nvSpPr>
          <p:cNvPr id="359340699" name="Text 33"/>
          <p:cNvSpPr/>
          <p:nvPr/>
        </p:nvSpPr>
        <p:spPr bwMode="auto">
          <a:xfrm>
            <a:off x="8467344" y="5394960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Next</a:t>
            </a:r>
            <a:endParaRPr lang="en-US" sz="950"/>
          </a:p>
        </p:txBody>
      </p:sp>
      <p:sp>
        <p:nvSpPr>
          <p:cNvPr id="1035000633" name="Text 34"/>
          <p:cNvSpPr/>
          <p:nvPr/>
        </p:nvSpPr>
        <p:spPr bwMode="auto">
          <a:xfrm>
            <a:off x="8467344" y="55778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 b="1">
                <a:solidFill>
                  <a:srgbClr val="0D7C7C"/>
                </a:solidFill>
                <a:latin typeface="Arial"/>
                <a:ea typeface="Arial"/>
                <a:cs typeface="Arial"/>
              </a:rPr>
              <a:t>Calibration against real tool data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808481" name="Text 0"/>
          <p:cNvSpPr/>
          <p:nvPr/>
        </p:nvSpPr>
        <p:spPr bwMode="auto">
          <a:xfrm>
            <a:off x="548640" y="4572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60">
                <a:solidFill>
                  <a:srgbClr val="2B6CB0"/>
                </a:solidFill>
                <a:latin typeface="Arial"/>
                <a:ea typeface="Arial"/>
                <a:cs typeface="Arial"/>
              </a:rPr>
              <a:t>AI autonomous operation proposal · 07 Autonomy roadmap</a:t>
            </a:r>
            <a:endParaRPr lang="en-US" sz="1100"/>
          </a:p>
        </p:txBody>
      </p:sp>
      <p:sp>
        <p:nvSpPr>
          <p:cNvPr id="259830793" name="Text 1"/>
          <p:cNvSpPr/>
          <p:nvPr/>
        </p:nvSpPr>
        <p:spPr bwMode="auto">
          <a:xfrm>
            <a:off x="548640" y="713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Autonomy ladder and engineering specification</a:t>
            </a:r>
            <a:endParaRPr lang="en-US" sz="3200"/>
          </a:p>
        </p:txBody>
      </p:sp>
      <p:sp>
        <p:nvSpPr>
          <p:cNvPr id="1353475274" name="Text 2"/>
          <p:cNvSpPr/>
          <p:nvPr/>
        </p:nvSpPr>
        <p:spPr bwMode="auto">
          <a:xfrm>
            <a:off x="713232" y="14264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Level</a:t>
            </a:r>
            <a:endParaRPr lang="en-US" sz="1000"/>
          </a:p>
        </p:txBody>
      </p:sp>
      <p:sp>
        <p:nvSpPr>
          <p:cNvPr id="1244048838" name="Text 3"/>
          <p:cNvSpPr/>
          <p:nvPr/>
        </p:nvSpPr>
        <p:spPr bwMode="auto">
          <a:xfrm>
            <a:off x="2103120" y="14264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Scope</a:t>
            </a:r>
            <a:endParaRPr lang="en-US" sz="1000"/>
          </a:p>
        </p:txBody>
      </p:sp>
      <p:sp>
        <p:nvSpPr>
          <p:cNvPr id="2035249733" name="Text 4"/>
          <p:cNvSpPr/>
          <p:nvPr/>
        </p:nvSpPr>
        <p:spPr bwMode="auto">
          <a:xfrm>
            <a:off x="4251960" y="1426464"/>
            <a:ext cx="48920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687688"/>
                </a:solidFill>
                <a:latin typeface="Arial"/>
                <a:ea typeface="Arial"/>
                <a:cs typeface="Arial"/>
              </a:rPr>
              <a:t>Entry conditions (qualitative for now — numeric gates set after baseline measurement)</a:t>
            </a:r>
            <a:endParaRPr lang="en-US" sz="1000"/>
          </a:p>
        </p:txBody>
      </p:sp>
      <p:sp>
        <p:nvSpPr>
          <p:cNvPr id="1529937088" name="Shape 6"/>
          <p:cNvSpPr/>
          <p:nvPr/>
        </p:nvSpPr>
        <p:spPr bwMode="auto">
          <a:xfrm>
            <a:off x="548640" y="1773936"/>
            <a:ext cx="11091672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04117564" name="Shape 7"/>
          <p:cNvSpPr/>
          <p:nvPr/>
        </p:nvSpPr>
        <p:spPr bwMode="auto">
          <a:xfrm>
            <a:off x="713232" y="1938528"/>
            <a:ext cx="1188720" cy="676656"/>
          </a:xfrm>
          <a:prstGeom prst="roundRect">
            <a:avLst>
              <a:gd name="adj" fmla="val 18919"/>
            </a:avLst>
          </a:prstGeom>
          <a:solidFill>
            <a:srgbClr val="DFF4FF"/>
          </a:solidFill>
          <a:ln w="12700">
            <a:solidFill>
              <a:srgbClr val="DFF4FF"/>
            </a:solidFill>
            <a:prstDash val="solid"/>
          </a:ln>
        </p:spPr>
        <p:txBody>
          <a:bodyPr/>
          <a:p/>
        </p:txBody>
      </p:sp>
      <p:sp>
        <p:nvSpPr>
          <p:cNvPr id="274825471" name="Text 8"/>
          <p:cNvSpPr/>
          <p:nvPr/>
        </p:nvSpPr>
        <p:spPr bwMode="auto">
          <a:xfrm>
            <a:off x="713232" y="1975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L1</a:t>
            </a:r>
            <a:endParaRPr lang="en-US" sz="1700"/>
          </a:p>
        </p:txBody>
      </p:sp>
      <p:sp>
        <p:nvSpPr>
          <p:cNvPr id="932246330" name="Text 9"/>
          <p:cNvSpPr/>
          <p:nvPr/>
        </p:nvSpPr>
        <p:spPr bwMode="auto">
          <a:xfrm>
            <a:off x="713232" y="2258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Observe</a:t>
            </a:r>
            <a:endParaRPr lang="en-US" sz="1000"/>
          </a:p>
        </p:txBody>
      </p:sp>
      <p:sp>
        <p:nvSpPr>
          <p:cNvPr id="1254576880" name="Text 10"/>
          <p:cNvSpPr/>
          <p:nvPr/>
        </p:nvSpPr>
        <p:spPr bwMode="auto">
          <a:xfrm>
            <a:off x="2103120" y="19202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Read-only acquisition; full data capture during runs</a:t>
            </a:r>
            <a:endParaRPr lang="en-US" sz="1050"/>
          </a:p>
        </p:txBody>
      </p:sp>
      <p:sp>
        <p:nvSpPr>
          <p:cNvPr id="13840982" name="Text 11"/>
          <p:cNvSpPr/>
          <p:nvPr/>
        </p:nvSpPr>
        <p:spPr bwMode="auto">
          <a:xfrm>
            <a:off x="4251960" y="1920240"/>
            <a:ext cx="48920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>
                <a:solidFill>
                  <a:srgbClr val="1A2A3B"/>
                </a:solidFill>
                <a:latin typeface="Arial"/>
                <a:ea typeface="Arial"/>
                <a:cs typeface="Arial"/>
              </a:rPr>
              <a:t>Data contract accepted: every signal captured and logged with trustworthy time synchronisation; the ingest validation layer proven by fault injection to actually reject bad data.</a:t>
            </a:r>
            <a:endParaRPr lang="en-US" sz="1050"/>
          </a:p>
        </p:txBody>
      </p:sp>
      <p:sp>
        <p:nvSpPr>
          <p:cNvPr id="645010717" name="Shape 13"/>
          <p:cNvSpPr/>
          <p:nvPr/>
        </p:nvSpPr>
        <p:spPr bwMode="auto">
          <a:xfrm>
            <a:off x="548640" y="2889504"/>
            <a:ext cx="11091672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4329472" name="Shape 14"/>
          <p:cNvSpPr/>
          <p:nvPr/>
        </p:nvSpPr>
        <p:spPr bwMode="auto">
          <a:xfrm>
            <a:off x="713232" y="3054096"/>
            <a:ext cx="1188720" cy="676656"/>
          </a:xfrm>
          <a:prstGeom prst="roundRect">
            <a:avLst>
              <a:gd name="adj" fmla="val 18919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1055198802" name="Text 15"/>
          <p:cNvSpPr/>
          <p:nvPr/>
        </p:nvSpPr>
        <p:spPr bwMode="auto">
          <a:xfrm>
            <a:off x="713232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endParaRPr lang="en-US" sz="1700"/>
          </a:p>
        </p:txBody>
      </p:sp>
      <p:sp>
        <p:nvSpPr>
          <p:cNvPr id="845292109" name="Text 16"/>
          <p:cNvSpPr/>
          <p:nvPr/>
        </p:nvSpPr>
        <p:spPr bwMode="auto">
          <a:xfrm>
            <a:off x="713232" y="33741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Shadow</a:t>
            </a:r>
            <a:endParaRPr lang="en-US" sz="1000"/>
          </a:p>
        </p:txBody>
      </p:sp>
      <p:sp>
        <p:nvSpPr>
          <p:cNvPr id="330170633" name="Text 17"/>
          <p:cNvSpPr/>
          <p:nvPr/>
        </p:nvSpPr>
        <p:spPr bwMode="auto">
          <a:xfrm>
            <a:off x="2103120" y="30358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AI issues decisions with rationale; nothing is written to the tool</a:t>
            </a:r>
            <a:endParaRPr lang="en-US" sz="1050"/>
          </a:p>
        </p:txBody>
      </p:sp>
      <p:sp>
        <p:nvSpPr>
          <p:cNvPr id="2034198408" name="Text 18"/>
          <p:cNvSpPr/>
          <p:nvPr/>
        </p:nvSpPr>
        <p:spPr bwMode="auto">
          <a:xfrm>
            <a:off x="4251960" y="3035808"/>
            <a:ext cx="48920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>
                <a:solidFill>
                  <a:srgbClr val="1A2A3B"/>
                </a:solidFill>
                <a:latin typeface="Arial"/>
                <a:ea typeface="Arial"/>
                <a:cs typeface="Arial"/>
              </a:rPr>
              <a:t>Model calibration passes its acceptance check on our own tool data; perception agrees with expert judgement consistently across a sustained shadow period.</a:t>
            </a:r>
            <a:endParaRPr lang="en-US" sz="1050"/>
          </a:p>
        </p:txBody>
      </p:sp>
      <p:sp>
        <p:nvSpPr>
          <p:cNvPr id="1897494771" name="Shape 20"/>
          <p:cNvSpPr/>
          <p:nvPr/>
        </p:nvSpPr>
        <p:spPr bwMode="auto">
          <a:xfrm>
            <a:off x="548640" y="4005072"/>
            <a:ext cx="11091672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15255966" name="Shape 21"/>
          <p:cNvSpPr/>
          <p:nvPr/>
        </p:nvSpPr>
        <p:spPr bwMode="auto">
          <a:xfrm>
            <a:off x="713232" y="4169664"/>
            <a:ext cx="1188720" cy="676656"/>
          </a:xfrm>
          <a:prstGeom prst="roundRect">
            <a:avLst>
              <a:gd name="adj" fmla="val 18919"/>
            </a:avLst>
          </a:prstGeom>
          <a:solidFill>
            <a:srgbClr val="0B2D4D"/>
          </a:solidFill>
          <a:ln w="12700">
            <a:solidFill>
              <a:srgbClr val="0B2D4D"/>
            </a:solidFill>
            <a:prstDash val="solid"/>
          </a:ln>
        </p:spPr>
        <p:txBody>
          <a:bodyPr/>
          <a:p/>
        </p:txBody>
      </p:sp>
      <p:sp>
        <p:nvSpPr>
          <p:cNvPr id="446440822" name="Text 22"/>
          <p:cNvSpPr/>
          <p:nvPr/>
        </p:nvSpPr>
        <p:spPr bwMode="auto">
          <a:xfrm>
            <a:off x="713232" y="4206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</a:t>
            </a:r>
            <a:endParaRPr lang="en-US" sz="1700"/>
          </a:p>
        </p:txBody>
      </p:sp>
      <p:sp>
        <p:nvSpPr>
          <p:cNvPr id="1072506451" name="Text 23"/>
          <p:cNvSpPr/>
          <p:nvPr/>
        </p:nvSpPr>
        <p:spPr bwMode="auto">
          <a:xfrm>
            <a:off x="713232" y="4489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Supervised loop</a:t>
            </a:r>
            <a:endParaRPr lang="en-US" sz="1000"/>
          </a:p>
        </p:txBody>
      </p:sp>
      <p:sp>
        <p:nvSpPr>
          <p:cNvPr id="2111804177" name="Text 24"/>
          <p:cNvSpPr/>
          <p:nvPr/>
        </p:nvSpPr>
        <p:spPr bwMode="auto">
          <a:xfrm>
            <a:off x="2103120" y="415137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Single variable, then multivariable (MBE, PVD); one-click engineer takeover at every step</a:t>
            </a:r>
            <a:endParaRPr lang="en-US" sz="1050"/>
          </a:p>
        </p:txBody>
      </p:sp>
      <p:sp>
        <p:nvSpPr>
          <p:cNvPr id="1513187329" name="Text 25"/>
          <p:cNvSpPr/>
          <p:nvPr/>
        </p:nvSpPr>
        <p:spPr bwMode="auto">
          <a:xfrm>
            <a:off x="4251960" y="4151376"/>
            <a:ext cx="48920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>
                <a:solidFill>
                  <a:srgbClr val="1A2A3B"/>
                </a:solidFill>
                <a:latin typeface="Arial"/>
                <a:ea typeface="Arial"/>
                <a:cs typeface="Arial"/>
              </a:rPr>
              <a:t>Control law clears the full fault-injection suite in simulation; write-back latency verified against fast-loop needs; watchdogs and clamps proven in red-then-green drills; every recipe change passes the independent confirmation gate before it touches the tool.</a:t>
            </a:r>
            <a:endParaRPr lang="en-US" sz="1050"/>
          </a:p>
        </p:txBody>
      </p:sp>
      <p:sp>
        <p:nvSpPr>
          <p:cNvPr id="1382385974" name="Shape 27"/>
          <p:cNvSpPr/>
          <p:nvPr/>
        </p:nvSpPr>
        <p:spPr bwMode="auto">
          <a:xfrm>
            <a:off x="548640" y="5120640"/>
            <a:ext cx="11091672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203200" dist="50800" dir="5400000" sx="100000" sy="100000" kx="0" ky="0" algn="bl" rotWithShape="0">
              <a:srgbClr val="0B2D4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89228105" name="Shape 28"/>
          <p:cNvSpPr/>
          <p:nvPr/>
        </p:nvSpPr>
        <p:spPr bwMode="auto">
          <a:xfrm>
            <a:off x="713232" y="5285232"/>
            <a:ext cx="1188720" cy="676656"/>
          </a:xfrm>
          <a:prstGeom prst="roundRect">
            <a:avLst>
              <a:gd name="adj" fmla="val 18919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p/>
        </p:txBody>
      </p:sp>
      <p:sp>
        <p:nvSpPr>
          <p:cNvPr id="1656208056" name="Text 29"/>
          <p:cNvSpPr/>
          <p:nvPr/>
        </p:nvSpPr>
        <p:spPr bwMode="auto">
          <a:xfrm>
            <a:off x="713232" y="53218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</a:t>
            </a:r>
            <a:endParaRPr lang="en-US" sz="1700"/>
          </a:p>
        </p:txBody>
      </p:sp>
      <p:sp>
        <p:nvSpPr>
          <p:cNvPr id="608298451" name="Text 30"/>
          <p:cNvSpPr/>
          <p:nvPr/>
        </p:nvSpPr>
        <p:spPr bwMode="auto">
          <a:xfrm>
            <a:off x="713232" y="56052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Unattended</a:t>
            </a:r>
            <a:endParaRPr lang="en-US" sz="1000"/>
          </a:p>
        </p:txBody>
      </p:sp>
      <p:sp>
        <p:nvSpPr>
          <p:cNvPr id="1597799628" name="Text 31"/>
          <p:cNvSpPr/>
          <p:nvPr/>
        </p:nvSpPr>
        <p:spPr bwMode="auto">
          <a:xfrm>
            <a:off x="2103120" y="52669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 b="1">
                <a:solidFill>
                  <a:srgbClr val="0B2D4D"/>
                </a:solidFill>
                <a:latin typeface="Arial"/>
                <a:ea typeface="Arial"/>
                <a:cs typeface="Arial"/>
              </a:rPr>
              <a:t>Continuous unattended operation</a:t>
            </a:r>
            <a:endParaRPr lang="en-US" sz="1050"/>
          </a:p>
        </p:txBody>
      </p:sp>
      <p:sp>
        <p:nvSpPr>
          <p:cNvPr id="857066102" name="Text 32"/>
          <p:cNvSpPr/>
          <p:nvPr/>
        </p:nvSpPr>
        <p:spPr bwMode="auto">
          <a:xfrm>
            <a:off x="4251960" y="5266944"/>
            <a:ext cx="48920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  <a:defRPr/>
            </a:pPr>
            <a:r>
              <a:rPr lang="en-US" sz="1050">
                <a:solidFill>
                  <a:srgbClr val="1A2A3B"/>
                </a:solidFill>
                <a:latin typeface="Arial"/>
                <a:ea typeface="Arial"/>
                <a:cs typeface="Arial"/>
              </a:rPr>
              <a:t>Supervised operation stable over a sustained period; EHS and insurance sign-off in writing; unattended and fallback drills (network loss, heartbeat loss, sensor failure) all passed.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2026-07-24T06:30:59Z</dcterms:created>
  <dcterms:modified xsi:type="dcterms:W3CDTF">2026-07-24T06:41:31Z</dcterms:modified>
</cp:coreProperties>
</file>